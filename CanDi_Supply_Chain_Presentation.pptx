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18"/>
    <p:restoredTop sz="94610"/>
  </p:normalViewPr>
  <p:slideViewPr>
    <p:cSldViewPr snapToGrid="0" snapToObjects="1">
      <p:cViewPr>
        <p:scale>
          <a:sx n="161" d="100"/>
          <a:sy n="161" d="100"/>
        </p:scale>
        <p:origin x="3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65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-457201" y="2903373"/>
            <a:ext cx="10058400" cy="54864"/>
          </a:xfrm>
          <a:prstGeom prst="rect">
            <a:avLst/>
          </a:prstGeom>
          <a:solidFill>
            <a:srgbClr val="D4543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 rot="-120000">
            <a:off x="-457201" y="3086253"/>
            <a:ext cx="10058400" cy="27432"/>
          </a:xfrm>
          <a:prstGeom prst="rect">
            <a:avLst/>
          </a:prstGeom>
          <a:solidFill>
            <a:srgbClr val="2D8B75">
              <a:alpha val="5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731520" y="510305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the Supply Chain for CanDi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5622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7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3PL Dependence to an Optimized Distribution Network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00507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— Final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198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$22.2M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404595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411198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329K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34640" y="4404595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 / Week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411198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4404595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411198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40880" y="4404595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Served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">
            <a:off x="-457200" y="73152"/>
            <a:ext cx="10058400" cy="36576"/>
          </a:xfrm>
          <a:prstGeom prst="rect">
            <a:avLst/>
          </a:prstGeom>
          <a:solidFill>
            <a:srgbClr val="D4543B">
              <a:alpha val="6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Recommendation: Open CT + MA DCs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65540"/>
            <a:ext cx="4754880" cy="36651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pic>
        <p:nvPicPr>
          <p:cNvPr id="5" name="Image 0" descr="/sessions/happy-festive-archimedes/charts/chart_07_cell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69348"/>
            <a:ext cx="4572000" cy="27134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57800" y="782713"/>
            <a:ext cx="3657600" cy="579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A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~$1M/yr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343276" y="1316737"/>
            <a:ext cx="35721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3AAE94"/>
                </a:solidFill>
                <a:latin typeface="Georgia" pitchFamily="34" charset="0"/>
              </a:rPr>
              <a:t>(vs. all-direct LTL from NY at $2.7M/yr)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812" y="1824626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05272" y="2002537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+ MA DCs: $1.67M/yr total cost. Supply with FTL trunk-line to DCs. From DCs 3PL handles last-mile coordination to customers.</a:t>
            </a:r>
            <a:endParaRPr lang="en-US" sz="1000" dirty="0"/>
          </a:p>
          <a:p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605272" y="2478607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ME weekly leased truck from NY ($93.6K/yr). Far cheaper than a $200K DC for only 4% of volume.</a:t>
            </a: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812" y="2511115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605272" y="2568563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044051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605272" y="2998331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Periodic Review (R,S) — weekly cycle as our go to replenishment method. DCs wont have mixed boxes while ME will allow mixed boxes because lower demand.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473819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605272" y="3428099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Maine DC not justified ($200K for 9 pallets/wk)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903587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605272" y="3857867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All-direct from NY: $2.7M — too expensive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5257800" y="4360787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D4543B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Hidden Cost: Mixed Pallet Surcharge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lstStyle/>
          <a:p>
            <a:endParaRPr lang="es-ES_tradnl" dirty="0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45720" cy="457200"/>
          </a:xfrm>
          <a:prstGeom prst="rect">
            <a:avLst/>
          </a:prstGeom>
          <a:solidFill>
            <a:srgbClr val="D4543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646043" y="898295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$1/box surcharge adds ~$117K/year (CT+MA). Tail &amp; Connoisseur segments are 100% mixed — but FTL savings still dominate the economics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. The FTL trunk-line savings from aggregating all volume at the DC still outweigh the $117K annual surcharge, making DC stocking the economically superior choice for these segments as well.</a:t>
            </a:r>
          </a:p>
        </p:txBody>
      </p:sp>
      <p:sp>
        <p:nvSpPr>
          <p:cNvPr id="8" name="Shape 5"/>
          <p:cNvSpPr/>
          <p:nvPr/>
        </p:nvSpPr>
        <p:spPr>
          <a:xfrm>
            <a:off x="457200" y="1653870"/>
            <a:ext cx="8229600" cy="328388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pic>
        <p:nvPicPr>
          <p:cNvPr id="9" name="Image 1" descr="/sessions/happy-festive-archimedes/charts/chart_04_cell33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" y="1567989"/>
            <a:ext cx="8229600" cy="30341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64785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annual surcharge by region. Right: % of boxes on mixed pallets. Mass/Mainline have low surcharge; Tail/Connoisseur are 100% mixed.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9319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93776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CanDi Challenge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87552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years using expensive 3PL distributors, CanDi must build its own supply chain deciding where to warehouses, how to ship, and what to stock where.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69660" y="1924812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20" y="210769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9740" y="19979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FTL is Point-to-Point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09740" y="22722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trucks go to ONE destination. Max customer = 3.4 pallets vs. 20-pallet truck.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9660" y="2793492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20" y="297637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9740" y="28666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$200K/yr Per DC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09740" y="31409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regional DC has a steep fixed cost. Volume must justify investment.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69660" y="3662172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20" y="3845052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09740" y="37353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$1/box Surcharge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109740" y="40096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pallets at DCs incur a hidden $1/box fee — devastating for low-volume SKUs.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663440" y="987552"/>
            <a:ext cx="4297680" cy="36301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pic>
        <p:nvPicPr>
          <p:cNvPr id="19" name="Image 4" descr="/sessions/happy-festive-archimedes/charts/chart_01_cell16.png"/>
          <p:cNvPicPr>
            <a:picLocks noChangeAspect="1"/>
          </p:cNvPicPr>
          <p:nvPr/>
        </p:nvPicPr>
        <p:blipFill>
          <a:blip r:embed="rId3"/>
          <a:srcRect r="30833"/>
          <a:stretch>
            <a:fillRect/>
          </a:stretch>
        </p:blipFill>
        <p:spPr>
          <a:xfrm>
            <a:off x="4712763" y="1013829"/>
            <a:ext cx="4248357" cy="20185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36941" y="3210687"/>
            <a:ext cx="2057400" cy="1076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dominates with 63% of volume (~163 pallets/wk). ME is only 4% (~6 pallets/wk) — barely one-third of a truckload.</a:t>
            </a:r>
            <a:endParaRPr lang="en-US" sz="900" dirty="0"/>
          </a:p>
        </p:txBody>
      </p:sp>
      <p:pic>
        <p:nvPicPr>
          <p:cNvPr id="22" name="Image 4" descr="/sessions/happy-festive-archimedes/charts/chart_01_cell16.png">
            <a:extLst>
              <a:ext uri="{FF2B5EF4-FFF2-40B4-BE49-F238E27FC236}">
                <a16:creationId xmlns:a16="http://schemas.microsoft.com/office/drawing/2014/main" id="{8F2A883D-DEA8-CE69-224D-443E18342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671" b="13965"/>
          <a:stretch>
            <a:fillRect/>
          </a:stretch>
        </p:blipFill>
        <p:spPr>
          <a:xfrm>
            <a:off x="5029200" y="2999232"/>
            <a:ext cx="1545881" cy="1599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Direct Delivery Fails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199" y="731520"/>
            <a:ext cx="8305137" cy="8094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557784" y="832104"/>
            <a:ext cx="8129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fills even 1/5 of a truck </a:t>
            </a:r>
            <a:r>
              <a:rPr lang="en-US" sz="1000" dirty="0">
                <a:solidFill>
                  <a:srgbClr val="E87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FTL wastes 83% of capacity. </a:t>
            </a:r>
            <a:r>
              <a:rPr lang="en-US" sz="1000" dirty="0">
                <a:solidFill>
                  <a:srgbClr val="3AA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DCs aggregate volume → $0.02/bag FTL vs. $0.15/bag LTL.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 + MA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vDCs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$1.67M/yr total cost; ME LTL because of narrow delivery time frames over LT low cost.</a:t>
            </a:r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chemeClr val="accent4"/>
                </a:solidFill>
              </a:rPr>
              <a:t>Leased truck (multi-stop) cheaper than LTL but requires </a:t>
            </a:r>
            <a:r>
              <a:rPr lang="en-US" sz="1000" dirty="0" err="1">
                <a:solidFill>
                  <a:schemeClr val="accent4"/>
                </a:solidFill>
              </a:rPr>
              <a:t>CanDi</a:t>
            </a:r>
            <a:r>
              <a:rPr lang="en-US" sz="1000" dirty="0">
                <a:solidFill>
                  <a:schemeClr val="accent4"/>
                </a:solidFill>
              </a:rPr>
              <a:t> to manage strict customer delivery windows. Operationally not feasible for a small company.</a:t>
            </a:r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82296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pic>
        <p:nvPicPr>
          <p:cNvPr id="8" name="Image 1" descr="/sessions/happy-festive-archimedes/charts/chart_02_cell23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" y="1554173"/>
            <a:ext cx="8229600" cy="31552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6309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weekly cost by mode and state. Right: cost per bag vs. the $0.50 margin. Via Regional DC (green) is cheapest across all states.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8 Warehouse Configurations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pic>
        <p:nvPicPr>
          <p:cNvPr id="6" name="Image 1" descr="/sessions/happy-festive-archimedes/charts/chart_03_cell27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" y="886968"/>
            <a:ext cx="8229600" cy="3165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201500"/>
            <a:ext cx="8229600" cy="457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9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+ MA is the clear winner at $1.67M/yr. 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ME (+$227K) makes All 3 DCs more expensive. Without any DCs</a:t>
            </a:r>
            <a:r>
              <a:rPr lang="en-US" sz="9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 LTL direct costs $2.69M.</a:t>
            </a:r>
            <a:endParaRPr lang="en-US" sz="9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4984" y="24910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the Money Go?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pic>
        <p:nvPicPr>
          <p:cNvPr id="6" name="Image 1" descr="/sessions/happy-festive-archimedes/charts/chart_06_cell43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" y="955404"/>
            <a:ext cx="8229600" cy="36165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full cost breakdown for 4 key scenarios. Right: incremental impact of each DC — MA saves $870K, CT adds $145K more, but ME costs $227K extra.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7784" y="37490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Inventory: Lean &amp; Responsive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841248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5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 pallets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12070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785451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6"/>
          <p:cNvSpPr/>
          <p:nvPr/>
        </p:nvSpPr>
        <p:spPr>
          <a:xfrm>
            <a:off x="457200" y="1812883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5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60-93×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2151211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Inv. Turns/yr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747772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 dirty="0"/>
          </a:p>
        </p:txBody>
      </p:sp>
      <p:sp>
        <p:nvSpPr>
          <p:cNvPr id="12" name="Text 9"/>
          <p:cNvSpPr/>
          <p:nvPr/>
        </p:nvSpPr>
        <p:spPr>
          <a:xfrm>
            <a:off x="457200" y="27752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5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$27K/yr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7200" y="31135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Cost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694176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5" name="Text 12"/>
          <p:cNvSpPr/>
          <p:nvPr/>
        </p:nvSpPr>
        <p:spPr>
          <a:xfrm>
            <a:off x="457200" y="3721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5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7200" y="405993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60132" y="841248"/>
            <a:ext cx="5926668" cy="369467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pic>
        <p:nvPicPr>
          <p:cNvPr id="18" name="Image 1" descr="/sessions/happy-festive-archimedes/charts/chart_05_cell39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64747" y="848217"/>
            <a:ext cx="4917438" cy="3682635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570440C-0736-156E-36E9-0E360112E01D}"/>
              </a:ext>
            </a:extLst>
          </p:cNvPr>
          <p:cNvSpPr/>
          <p:nvPr/>
        </p:nvSpPr>
        <p:spPr>
          <a:xfrm>
            <a:off x="75538" y="4537821"/>
            <a:ext cx="8643068" cy="49901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5538" y="4601828"/>
            <a:ext cx="8229600" cy="441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chemeClr val="accent1"/>
                </a:solidFill>
                <a:latin typeface="Calibri" pitchFamily="34" charset="0"/>
                <a:cs typeface="Calibri" pitchFamily="34" charset="-120"/>
              </a:rPr>
              <a:t>Key assumptions: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accent1"/>
                </a:solidFill>
                <a:latin typeface="Calibri" pitchFamily="34" charset="0"/>
                <a:cs typeface="Calibri" pitchFamily="34" charset="-120"/>
              </a:rPr>
              <a:t>25% annual holding cost rate; independent customer demands across region.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accent1"/>
                </a:solidFill>
                <a:latin typeface="Calibri" pitchFamily="34" charset="0"/>
                <a:cs typeface="Calibri" pitchFamily="34" charset="-120"/>
              </a:rPr>
              <a:t>Demand pooling at DCs reduces CV → proportionally less safety stock. Periodic Review (R,S) with weekly cycle aligned to customer ordering</a:t>
            </a:r>
            <a:r>
              <a:rPr lang="en-US" sz="900" i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4150</TotalTime>
  <Words>681</Words>
  <Application>Microsoft Macintosh PowerPoint</Application>
  <PresentationFormat>On-screen Show (16:9)</PresentationFormat>
  <Paragraphs>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the Supply Chain for CanDi</dc:title>
  <dc:subject>PptxGenJS Presentation</dc:subject>
  <dc:creator>Supply Chain Analytics Team</dc:creator>
  <cp:lastModifiedBy>Vargas, Rolando</cp:lastModifiedBy>
  <cp:revision>5</cp:revision>
  <dcterms:created xsi:type="dcterms:W3CDTF">2026-02-19T19:12:25Z</dcterms:created>
  <dcterms:modified xsi:type="dcterms:W3CDTF">2026-02-22T18:44:35Z</dcterms:modified>
</cp:coreProperties>
</file>