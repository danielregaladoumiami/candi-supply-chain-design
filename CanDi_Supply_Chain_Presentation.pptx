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20000">
            <a:off x="-457200" y="3474720"/>
            <a:ext cx="10058400" cy="54864"/>
          </a:xfrm>
          <a:prstGeom prst="rect">
            <a:avLst/>
          </a:prstGeom>
          <a:solidFill>
            <a:srgbClr val="D4543B"/>
          </a:solidFill>
          <a:ln/>
        </p:spPr>
      </p:sp>
      <p:sp>
        <p:nvSpPr>
          <p:cNvPr id="3" name="Shape 1"/>
          <p:cNvSpPr/>
          <p:nvPr/>
        </p:nvSpPr>
        <p:spPr>
          <a:xfrm rot="-120000">
            <a:off x="-457200" y="3657600"/>
            <a:ext cx="10058400" cy="27432"/>
          </a:xfrm>
          <a:prstGeom prst="rect">
            <a:avLst/>
          </a:prstGeom>
          <a:solidFill>
            <a:srgbClr val="2D8B75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Designing the Supply Chain for CanDi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7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3PL Dependence to an Optimized Distribution Network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Analytics — Final Project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526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$22.2M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481888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834640" y="4526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329K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834640" y="481888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Bags / Week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4526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481888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0" y="4526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40880" y="481888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Served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60000">
            <a:off x="-457200" y="73152"/>
            <a:ext cx="10058400" cy="36576"/>
          </a:xfrm>
          <a:prstGeom prst="rect">
            <a:avLst/>
          </a:prstGeom>
          <a:solidFill>
            <a:srgbClr val="D4543B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Recommendation: Open CT + MA DCs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754880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5" name="Image 0" descr="/sessions/happy-festive-archimedes/charts/chart_07_cell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69348"/>
            <a:ext cx="4572000" cy="27134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257800" y="8229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AAE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~$1M/yr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525780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vs. direct delivery from NY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257800" y="1828800"/>
            <a:ext cx="3657600" cy="502920"/>
          </a:xfrm>
          <a:prstGeom prst="rect">
            <a:avLst/>
          </a:prstGeom>
          <a:solidFill>
            <a:srgbClr val="2D8B75"/>
          </a:solidFill>
          <a:ln/>
        </p:spPr>
      </p:sp>
      <p:sp>
        <p:nvSpPr>
          <p:cNvPr id="9" name="Text 6"/>
          <p:cNvSpPr/>
          <p:nvPr/>
        </p:nvSpPr>
        <p:spPr>
          <a:xfrm>
            <a:off x="5394960" y="18745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Open CT + MA Distribution Centers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51460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05272" y="246888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cost: $1.67M/yr (saves ~$1M vs direct)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91693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605272" y="287121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FTL trunk from NY: $0.02/bag vs $0.15 LTL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3319272"/>
            <a:ext cx="22860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605272" y="32735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3PL at DCs handles last-mile &amp; scheduling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721608"/>
            <a:ext cx="228600" cy="2286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605272" y="367588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(R,S) replenishment, 95% service level</a:t>
            </a:r>
            <a:endParaRPr lang="en-US" sz="12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4123944"/>
            <a:ext cx="228600" cy="22860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605272" y="407822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110 SKUs stocked at both DCs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29260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CanDi Challenge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8686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years using expensive 3PL distributors, CanDi must build its own supply chain — deciding where to place warehouses, how to ship, and what to stock where.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645920"/>
            <a:ext cx="39319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28800"/>
            <a:ext cx="347472" cy="347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7190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FTL is Point-to-Point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097280" y="19933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trucks go to ONE destination. Max customer = 3.4 pallets vs. 20-pallet truck.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57200" y="2514600"/>
            <a:ext cx="39319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697480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97280" y="258775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$200K/yr Per DC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1097280" y="286207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regional DC has a steep fixed cost. Volume must justify investment.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457200" y="3383280"/>
            <a:ext cx="39319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566160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97280" y="345643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$1/box Surcharge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1097280" y="37307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pallets at DCs incur a hidden $1/box fee — devastating for low-volume SKUs.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663440" y="777240"/>
            <a:ext cx="42976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9" name="Image 4" descr="/sessions/happy-festive-archimedes/charts/chart_01_cell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021328"/>
            <a:ext cx="4114800" cy="1352303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754880" y="4617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dominates with 63% of volume (~163 pallets/wk). ME is only 4% (~6 pallets/wk) — barely one-third of a truckload.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292608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Direct Delivery Fails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89611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customer fills even 1/5 of a truck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873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FTL wastes 83% of capacity.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AAE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DCs aggregate volume → $0.02/bag FTL vs. $0.15/bag LTL.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1554480"/>
            <a:ext cx="8229600" cy="3337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1" descr="/sessions/happy-festive-archimedes/charts/chart_02_cell2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612"/>
            <a:ext cx="8229600" cy="31552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4663440"/>
            <a:ext cx="8229600" cy="384048"/>
          </a:xfrm>
          <a:prstGeom prst="rect">
            <a:avLst/>
          </a:prstGeom>
          <a:solidFill>
            <a:srgbClr val="2D8B75"/>
          </a:solidFill>
          <a:ln/>
        </p:spPr>
      </p:sp>
      <p:sp>
        <p:nvSpPr>
          <p:cNvPr id="10" name="Text 6"/>
          <p:cNvSpPr/>
          <p:nvPr/>
        </p:nvSpPr>
        <p:spPr>
          <a:xfrm>
            <a:off x="594360" y="468172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Use FTL trunk-lines from NY to regional DCs. 3PL handles last-mile from DCs to customers.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29260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8 Warehouse Configurations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3977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1" descr="/sessions/happy-festive-archimedes/charts/chart_03_cell2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74529"/>
            <a:ext cx="8229600" cy="316594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4663440"/>
            <a:ext cx="8229600" cy="384048"/>
          </a:xfrm>
          <a:prstGeom prst="rect">
            <a:avLst/>
          </a:prstGeom>
          <a:solidFill>
            <a:srgbClr val="2D8B75"/>
          </a:solidFill>
          <a:ln/>
        </p:spPr>
      </p:sp>
      <p:sp>
        <p:nvSpPr>
          <p:cNvPr id="8" name="Text 4"/>
          <p:cNvSpPr/>
          <p:nvPr/>
        </p:nvSpPr>
        <p:spPr>
          <a:xfrm>
            <a:off x="594360" y="468172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Open CT + MA only. Maine not feasible — $200K fixed cost for 4% of volume.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29260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Does the Money Go?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3977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1" descr="/sessions/happy-festive-archimedes/charts/chart_06_cell4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49202"/>
            <a:ext cx="8229600" cy="361659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4663440"/>
            <a:ext cx="8229600" cy="384048"/>
          </a:xfrm>
          <a:prstGeom prst="rect">
            <a:avLst/>
          </a:prstGeom>
          <a:solidFill>
            <a:srgbClr val="2D8B75"/>
          </a:solidFill>
          <a:ln/>
        </p:spPr>
      </p:sp>
      <p:sp>
        <p:nvSpPr>
          <p:cNvPr id="8" name="Text 4"/>
          <p:cNvSpPr/>
          <p:nvPr/>
        </p:nvSpPr>
        <p:spPr>
          <a:xfrm>
            <a:off x="594360" y="468172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saves $870K, CT adds $145K more. Each DC must earn its keep — Maine doesn’t.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D4543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29260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Hidden Cost: Mixed Pallet Surcharge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solidFill>
            <a:srgbClr val="FFF3EE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868680"/>
            <a:ext cx="45720" cy="457200"/>
          </a:xfrm>
          <a:prstGeom prst="rect">
            <a:avLst/>
          </a:prstGeom>
          <a:solidFill>
            <a:srgbClr val="D4543B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89611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$1/box surcharge adds ~$117K/year (CT+MA). Tail &amp; Connoisseur segments are 100% mixed — but FTL savings still dominate the economics.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1417320"/>
            <a:ext cx="822960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9" name="Image 1" descr="/sessions/happy-festive-archimedes/charts/chart_04_cell3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0467"/>
            <a:ext cx="8229600" cy="303414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4663440"/>
            <a:ext cx="8229600" cy="384048"/>
          </a:xfrm>
          <a:prstGeom prst="rect">
            <a:avLst/>
          </a:prstGeom>
          <a:solidFill>
            <a:srgbClr val="2D8B75"/>
          </a:solidFill>
          <a:ln/>
        </p:spPr>
      </p:sp>
      <p:sp>
        <p:nvSpPr>
          <p:cNvPr id="11" name="Text 7"/>
          <p:cNvSpPr/>
          <p:nvPr/>
        </p:nvSpPr>
        <p:spPr>
          <a:xfrm>
            <a:off x="594360" y="468172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Accept the $117K surcharge — FTL savings ($1M+) far outweigh the mixed-pallet cost.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374904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29260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Inventory: Lean &amp; Responsive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822960"/>
            <a:ext cx="4023360" cy="12344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868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How We Replenish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14300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DE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week, check inventory at each DC.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DE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up to S = μ×(R+L) + z×σ×√(R+L)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DE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 week, L = 1 day, z = 1.645 (95% SL)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DE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replenishment via FTL from NY next day.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9160" y="841248"/>
            <a:ext cx="105156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709160" y="868680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5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 pallets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709160" y="1188720"/>
            <a:ext cx="1051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Stock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852160" y="841248"/>
            <a:ext cx="105156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852160" y="868680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5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60-93×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852160" y="1188720"/>
            <a:ext cx="1051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Inv. Turns/yr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995160" y="841248"/>
            <a:ext cx="105156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995160" y="868680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5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$27K/yr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95160" y="1188720"/>
            <a:ext cx="1051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8138160" y="841248"/>
            <a:ext cx="105156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138160" y="868680"/>
            <a:ext cx="1051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54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138160" y="1188720"/>
            <a:ext cx="1051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57200" y="2194560"/>
            <a:ext cx="8229600" cy="2880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21" name="Image 1" descr="/sessions/happy-festive-archimedes/charts/chart_05_cell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922" y="2194560"/>
            <a:ext cx="3846156" cy="28803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pooling at DCs reduces CV → proportionally less safety stock. All 110 SKUs stocked at both DCs for full availability.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the Supply Chain for CanDi</dc:title>
  <dc:subject>PptxGenJS Presentation</dc:subject>
  <dc:creator>Supply Chain Analytics Team</dc:creator>
  <cp:lastModifiedBy>Supply Chain Analytics Team</cp:lastModifiedBy>
  <cp:revision>1</cp:revision>
  <dcterms:created xsi:type="dcterms:W3CDTF">2026-02-19T21:47:48Z</dcterms:created>
  <dcterms:modified xsi:type="dcterms:W3CDTF">2026-02-19T21:47:48Z</dcterms:modified>
</cp:coreProperties>
</file>