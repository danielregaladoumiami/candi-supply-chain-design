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78"/>
    <p:restoredTop sz="94610"/>
  </p:normalViewPr>
  <p:slideViewPr>
    <p:cSldViewPr snapToGrid="0" snapToObjects="1">
      <p:cViewPr>
        <p:scale>
          <a:sx n="126" d="100"/>
          <a:sy n="126" d="100"/>
        </p:scale>
        <p:origin x="144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8659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120000">
            <a:off x="-457201" y="2903373"/>
            <a:ext cx="10058400" cy="54864"/>
          </a:xfrm>
          <a:prstGeom prst="rect">
            <a:avLst/>
          </a:prstGeom>
          <a:solidFill>
            <a:srgbClr val="D4543B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3" name="Shape 1"/>
          <p:cNvSpPr/>
          <p:nvPr/>
        </p:nvSpPr>
        <p:spPr>
          <a:xfrm rot="-120000">
            <a:off x="-457201" y="3086253"/>
            <a:ext cx="10058400" cy="27432"/>
          </a:xfrm>
          <a:prstGeom prst="rect">
            <a:avLst/>
          </a:prstGeom>
          <a:solidFill>
            <a:srgbClr val="2D8B75">
              <a:alpha val="50000"/>
            </a:srgbClr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4" name="Text 2"/>
          <p:cNvSpPr/>
          <p:nvPr/>
        </p:nvSpPr>
        <p:spPr>
          <a:xfrm>
            <a:off x="731520" y="510305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Designing the Supply Chain for CanDi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156225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87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3PL Dependence to an Optimized Distribution Network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700507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Analytics — Final Project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111987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$22.2M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4404595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834640" y="4111987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329K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834640" y="4404595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Bags / Week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4111987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4404595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40880" y="4111987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40880" y="4404595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Served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60000">
            <a:off x="-457200" y="73152"/>
            <a:ext cx="10058400" cy="36576"/>
          </a:xfrm>
          <a:prstGeom prst="rect">
            <a:avLst/>
          </a:prstGeom>
          <a:solidFill>
            <a:srgbClr val="D4543B">
              <a:alpha val="60000"/>
            </a:srgbClr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Recommendation: Open CT + MA DCs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65540"/>
            <a:ext cx="4754880" cy="366515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6" name="Text 3"/>
          <p:cNvSpPr/>
          <p:nvPr/>
        </p:nvSpPr>
        <p:spPr>
          <a:xfrm>
            <a:off x="5257800" y="782713"/>
            <a:ext cx="3657600" cy="5797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AE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~$1M/yr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3276" y="1316737"/>
            <a:ext cx="357212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3AAE94"/>
                </a:solidFill>
                <a:latin typeface="Georgia" pitchFamily="34" charset="0"/>
              </a:rPr>
              <a:t>(vs. all-direct LTL from NY at $2.7M/yr)</a:t>
            </a:r>
          </a:p>
        </p:txBody>
      </p:sp>
      <p:sp>
        <p:nvSpPr>
          <p:cNvPr id="9" name="Text 5"/>
          <p:cNvSpPr/>
          <p:nvPr/>
        </p:nvSpPr>
        <p:spPr>
          <a:xfrm>
            <a:off x="5605272" y="2002537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+ MA DCs: $1.67M/yr total cost. Supply with FTL trunk-line to DCs. From DCs 3PL handles last-mile coordination to customers.</a:t>
            </a:r>
            <a:endParaRPr lang="en-US" sz="1000" dirty="0"/>
          </a:p>
          <a:p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5605272" y="2478607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ME weekly leased truck from NY ($93.6K/yr). Far cheaper than a $200K DC for only 4% of volume.</a:t>
            </a:r>
          </a:p>
        </p:txBody>
      </p:sp>
      <p:sp>
        <p:nvSpPr>
          <p:cNvPr id="13" name="Text 7"/>
          <p:cNvSpPr/>
          <p:nvPr/>
        </p:nvSpPr>
        <p:spPr>
          <a:xfrm>
            <a:off x="5605272" y="2568563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5" name="Text 8"/>
          <p:cNvSpPr/>
          <p:nvPr/>
        </p:nvSpPr>
        <p:spPr>
          <a:xfrm>
            <a:off x="5605272" y="2998331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Periodic Review (R,S) — weekly cycle as our go to replenishment method. DCs wont have mixed boxes while ME will allow mixed boxes because lower demand.</a:t>
            </a:r>
            <a:endParaRPr lang="en-US" sz="1000" dirty="0"/>
          </a:p>
        </p:txBody>
      </p:sp>
      <p:sp>
        <p:nvSpPr>
          <p:cNvPr id="17" name="Text 9"/>
          <p:cNvSpPr/>
          <p:nvPr/>
        </p:nvSpPr>
        <p:spPr>
          <a:xfrm>
            <a:off x="5605272" y="3428099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Maine DC not justified ($200K for 9 pallets/wk)</a:t>
            </a:r>
            <a:endParaRPr lang="en-US" sz="1000" dirty="0"/>
          </a:p>
        </p:txBody>
      </p:sp>
      <p:sp>
        <p:nvSpPr>
          <p:cNvPr id="19" name="Text 10"/>
          <p:cNvSpPr/>
          <p:nvPr/>
        </p:nvSpPr>
        <p:spPr>
          <a:xfrm>
            <a:off x="5605272" y="3857867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All-direct from NY: $2.7M — too expensive</a:t>
            </a:r>
            <a:endParaRPr lang="en-US" sz="1000" dirty="0"/>
          </a:p>
        </p:txBody>
      </p:sp>
      <p:sp>
        <p:nvSpPr>
          <p:cNvPr id="20" name="Text 11"/>
          <p:cNvSpPr/>
          <p:nvPr/>
        </p:nvSpPr>
        <p:spPr>
          <a:xfrm>
            <a:off x="5257800" y="4360787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endParaRPr lang="en-US" sz="950" dirty="0"/>
          </a:p>
        </p:txBody>
      </p:sp>
      <p:pic>
        <p:nvPicPr>
          <p:cNvPr id="21" name="Image 0" descr="/sessions/happy-festive-archimedes/charts/chart_07_cell46.png">
            <a:extLst>
              <a:ext uri="{FF2B5EF4-FFF2-40B4-BE49-F238E27FC236}">
                <a16:creationId xmlns:a16="http://schemas.microsoft.com/office/drawing/2014/main" id="{2A12A114-E529-4972-327C-5ABFF732C6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69348"/>
            <a:ext cx="4572000" cy="2713463"/>
          </a:xfrm>
          <a:prstGeom prst="rect">
            <a:avLst/>
          </a:prstGeom>
        </p:spPr>
      </p:pic>
      <p:pic>
        <p:nvPicPr>
          <p:cNvPr id="22" name="Image 1" descr="preencoded.png">
            <a:extLst>
              <a:ext uri="{FF2B5EF4-FFF2-40B4-BE49-F238E27FC236}">
                <a16:creationId xmlns:a16="http://schemas.microsoft.com/office/drawing/2014/main" id="{60C98170-9911-FE92-66DE-F04A6300A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1896481"/>
            <a:ext cx="228600" cy="228600"/>
          </a:xfrm>
          <a:prstGeom prst="rect">
            <a:avLst/>
          </a:prstGeom>
        </p:spPr>
      </p:pic>
      <p:pic>
        <p:nvPicPr>
          <p:cNvPr id="23" name="Image 1" descr="preencoded.png">
            <a:extLst>
              <a:ext uri="{FF2B5EF4-FFF2-40B4-BE49-F238E27FC236}">
                <a16:creationId xmlns:a16="http://schemas.microsoft.com/office/drawing/2014/main" id="{D480ADFC-F70E-9961-B7AC-63E7B15019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554849"/>
            <a:ext cx="228600" cy="228600"/>
          </a:xfrm>
          <a:prstGeom prst="rect">
            <a:avLst/>
          </a:prstGeom>
        </p:spPr>
      </p:pic>
      <p:pic>
        <p:nvPicPr>
          <p:cNvPr id="24" name="Image 1" descr="preencoded.png">
            <a:extLst>
              <a:ext uri="{FF2B5EF4-FFF2-40B4-BE49-F238E27FC236}">
                <a16:creationId xmlns:a16="http://schemas.microsoft.com/office/drawing/2014/main" id="{1DBFE389-ACED-5E7F-0727-6646E27285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3025765"/>
            <a:ext cx="228600" cy="228600"/>
          </a:xfrm>
          <a:prstGeom prst="rect">
            <a:avLst/>
          </a:prstGeom>
        </p:spPr>
      </p:pic>
      <p:pic>
        <p:nvPicPr>
          <p:cNvPr id="25" name="Image 5" descr="preencoded.png">
            <a:extLst>
              <a:ext uri="{FF2B5EF4-FFF2-40B4-BE49-F238E27FC236}">
                <a16:creationId xmlns:a16="http://schemas.microsoft.com/office/drawing/2014/main" id="{9F16E527-251B-7059-8997-AA026D45D1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3510395"/>
            <a:ext cx="228600" cy="228600"/>
          </a:xfrm>
          <a:prstGeom prst="rect">
            <a:avLst/>
          </a:prstGeom>
        </p:spPr>
      </p:pic>
      <p:pic>
        <p:nvPicPr>
          <p:cNvPr id="26" name="Image 5" descr="preencoded.png">
            <a:extLst>
              <a:ext uri="{FF2B5EF4-FFF2-40B4-BE49-F238E27FC236}">
                <a16:creationId xmlns:a16="http://schemas.microsoft.com/office/drawing/2014/main" id="{D735E26F-C725-353A-1E46-37BB29D63E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3917303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4543B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4" name="Text 1"/>
          <p:cNvSpPr/>
          <p:nvPr/>
        </p:nvSpPr>
        <p:spPr>
          <a:xfrm>
            <a:off x="1097280" y="29260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Hidden Cost: Mixed Pallet Surcharge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594360"/>
          </a:xfrm>
          <a:prstGeom prst="rect">
            <a:avLst/>
          </a:prstGeom>
          <a:solidFill>
            <a:srgbClr val="FFF3EE"/>
          </a:solidFill>
          <a:ln/>
        </p:spPr>
        <p:txBody>
          <a:bodyPr/>
          <a:lstStyle/>
          <a:p>
            <a:endParaRPr lang="es-ES_tradnl" dirty="0"/>
          </a:p>
        </p:txBody>
      </p:sp>
      <p:sp>
        <p:nvSpPr>
          <p:cNvPr id="6" name="Shape 3"/>
          <p:cNvSpPr/>
          <p:nvPr/>
        </p:nvSpPr>
        <p:spPr>
          <a:xfrm>
            <a:off x="457200" y="868680"/>
            <a:ext cx="45720" cy="457200"/>
          </a:xfrm>
          <a:prstGeom prst="rect">
            <a:avLst/>
          </a:prstGeom>
          <a:solidFill>
            <a:srgbClr val="D4543B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7" name="Text 4"/>
          <p:cNvSpPr/>
          <p:nvPr/>
        </p:nvSpPr>
        <p:spPr>
          <a:xfrm>
            <a:off x="646043" y="898295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$1/box surcharge adds ~$117K/year (CT+MA). Tail &amp; Connoisseur segments are 100% mixed — but FTL savings still dominate the economics</a:t>
            </a:r>
            <a:r>
              <a:rPr lang="en-US" sz="900" dirty="0">
                <a:solidFill>
                  <a:srgbClr val="333333"/>
                </a:solidFill>
                <a:latin typeface="Calibri" pitchFamily="34" charset="0"/>
                <a:cs typeface="Calibri" pitchFamily="34" charset="-120"/>
              </a:rPr>
              <a:t>. The FTL trunk-line savings from aggregating all volume at the DC still outweigh the $117K annual surcharge, making DC stocking the economically superior choice for these segments as well.</a:t>
            </a:r>
          </a:p>
        </p:txBody>
      </p:sp>
      <p:sp>
        <p:nvSpPr>
          <p:cNvPr id="8" name="Shape 5"/>
          <p:cNvSpPr/>
          <p:nvPr/>
        </p:nvSpPr>
        <p:spPr>
          <a:xfrm>
            <a:off x="457200" y="1653870"/>
            <a:ext cx="8229600" cy="3283889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10" name="Text 6"/>
          <p:cNvSpPr/>
          <p:nvPr/>
        </p:nvSpPr>
        <p:spPr>
          <a:xfrm>
            <a:off x="457200" y="464785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annual surcharge by region. Right: % of boxes on mixed pallets. Mass/Mainline have low surcharge; Tail/Connoisseur are 100% mixed.</a:t>
            </a:r>
            <a:endParaRPr lang="en-US" sz="900" dirty="0"/>
          </a:p>
        </p:txBody>
      </p:sp>
      <p:pic>
        <p:nvPicPr>
          <p:cNvPr id="12" name="Image 1" descr="/sessions/happy-festive-archimedes/charts/chart_04_cell33.png">
            <a:extLst>
              <a:ext uri="{FF2B5EF4-FFF2-40B4-BE49-F238E27FC236}">
                <a16:creationId xmlns:a16="http://schemas.microsoft.com/office/drawing/2014/main" id="{7DDAE992-3A2E-BC2C-F504-A7C88EE5A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67989"/>
            <a:ext cx="8229600" cy="3034145"/>
          </a:xfrm>
          <a:prstGeom prst="rect">
            <a:avLst/>
          </a:prstGeom>
        </p:spPr>
      </p:pic>
      <p:pic>
        <p:nvPicPr>
          <p:cNvPr id="13" name="Image 0" descr="preencoded.png">
            <a:extLst>
              <a:ext uri="{FF2B5EF4-FFF2-40B4-BE49-F238E27FC236}">
                <a16:creationId xmlns:a16="http://schemas.microsoft.com/office/drawing/2014/main" id="{B640EC39-BB3C-4E36-2E73-14F339909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93192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4" name="Text 1"/>
          <p:cNvSpPr/>
          <p:nvPr/>
        </p:nvSpPr>
        <p:spPr>
          <a:xfrm>
            <a:off x="1097280" y="411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CanDi Challenge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987552"/>
            <a:ext cx="393192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 years using expensive 3PL distributors, CanDi must build its own supply chain deciding where to warehouses, how to ship, and what to stock where.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9660" y="1924812"/>
            <a:ext cx="393192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8" name="Text 4"/>
          <p:cNvSpPr/>
          <p:nvPr/>
        </p:nvSpPr>
        <p:spPr>
          <a:xfrm>
            <a:off x="1109740" y="19979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FTL is Point-to-Point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1109740" y="227228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trucks go to ONE destination. Max customer = 3.4 pallets vs. 20-pallet truck.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69660" y="2793492"/>
            <a:ext cx="393192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12" name="Text 7"/>
          <p:cNvSpPr/>
          <p:nvPr/>
        </p:nvSpPr>
        <p:spPr>
          <a:xfrm>
            <a:off x="1109740" y="286664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$200K/yr Per DC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1109740" y="31409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regional DC has a steep fixed cost. Volume must justify investment.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469660" y="3662172"/>
            <a:ext cx="393192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16" name="Text 10"/>
          <p:cNvSpPr/>
          <p:nvPr/>
        </p:nvSpPr>
        <p:spPr>
          <a:xfrm>
            <a:off x="1109740" y="373532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$1/box Surcharge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1109740" y="400964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pallets at DCs incur a hidden $1/box fee — devastating for low-volume SKUs.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663440" y="987552"/>
            <a:ext cx="4297680" cy="36301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20" name="Text 13"/>
          <p:cNvSpPr/>
          <p:nvPr/>
        </p:nvSpPr>
        <p:spPr>
          <a:xfrm>
            <a:off x="6836941" y="3210687"/>
            <a:ext cx="2057400" cy="10767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dominates with 63% of volume (~163 pallets/wk). ME is only 4% (~6 pallets/wk) — barely one-third of a truckload.</a:t>
            </a:r>
            <a:endParaRPr lang="en-US" sz="900" dirty="0"/>
          </a:p>
        </p:txBody>
      </p:sp>
      <p:pic>
        <p:nvPicPr>
          <p:cNvPr id="21" name="Image 0" descr="preencoded.png">
            <a:extLst>
              <a:ext uri="{FF2B5EF4-FFF2-40B4-BE49-F238E27FC236}">
                <a16:creationId xmlns:a16="http://schemas.microsoft.com/office/drawing/2014/main" id="{4F56C942-A0B6-7C2A-7888-F6E2B76B7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93776"/>
            <a:ext cx="256032" cy="256032"/>
          </a:xfrm>
          <a:prstGeom prst="rect">
            <a:avLst/>
          </a:prstGeom>
        </p:spPr>
      </p:pic>
      <p:pic>
        <p:nvPicPr>
          <p:cNvPr id="23" name="Image 1" descr="preencoded.png">
            <a:extLst>
              <a:ext uri="{FF2B5EF4-FFF2-40B4-BE49-F238E27FC236}">
                <a16:creationId xmlns:a16="http://schemas.microsoft.com/office/drawing/2014/main" id="{5F882006-4524-0A58-F803-39BC1F9969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848" y="2130552"/>
            <a:ext cx="347472" cy="347472"/>
          </a:xfrm>
          <a:prstGeom prst="rect">
            <a:avLst/>
          </a:prstGeom>
        </p:spPr>
      </p:pic>
      <p:pic>
        <p:nvPicPr>
          <p:cNvPr id="24" name="Image 2" descr="preencoded.png">
            <a:extLst>
              <a:ext uri="{FF2B5EF4-FFF2-40B4-BE49-F238E27FC236}">
                <a16:creationId xmlns:a16="http://schemas.microsoft.com/office/drawing/2014/main" id="{0952DAB6-DF8A-876B-B69F-5CB6F7FCCB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848" y="2988312"/>
            <a:ext cx="347472" cy="347472"/>
          </a:xfrm>
          <a:prstGeom prst="rect">
            <a:avLst/>
          </a:prstGeom>
        </p:spPr>
      </p:pic>
      <p:pic>
        <p:nvPicPr>
          <p:cNvPr id="25" name="Image 3" descr="preencoded.png">
            <a:extLst>
              <a:ext uri="{FF2B5EF4-FFF2-40B4-BE49-F238E27FC236}">
                <a16:creationId xmlns:a16="http://schemas.microsoft.com/office/drawing/2014/main" id="{334683FB-3105-66E3-6AC1-5A5DB576C1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848" y="3798912"/>
            <a:ext cx="347472" cy="347472"/>
          </a:xfrm>
          <a:prstGeom prst="rect">
            <a:avLst/>
          </a:prstGeom>
        </p:spPr>
      </p:pic>
      <p:pic>
        <p:nvPicPr>
          <p:cNvPr id="26" name="Image 4" descr="/sessions/happy-festive-archimedes/charts/chart_01_cell16.png">
            <a:extLst>
              <a:ext uri="{FF2B5EF4-FFF2-40B4-BE49-F238E27FC236}">
                <a16:creationId xmlns:a16="http://schemas.microsoft.com/office/drawing/2014/main" id="{51891797-75F6-566F-5DB9-AFAFD866F38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30833"/>
          <a:stretch>
            <a:fillRect/>
          </a:stretch>
        </p:blipFill>
        <p:spPr>
          <a:xfrm>
            <a:off x="4712763" y="1013829"/>
            <a:ext cx="4248357" cy="2018596"/>
          </a:xfrm>
          <a:prstGeom prst="rect">
            <a:avLst/>
          </a:prstGeom>
        </p:spPr>
      </p:pic>
      <p:pic>
        <p:nvPicPr>
          <p:cNvPr id="27" name="Image 4" descr="/sessions/happy-festive-archimedes/charts/chart_01_cell16.png">
            <a:extLst>
              <a:ext uri="{FF2B5EF4-FFF2-40B4-BE49-F238E27FC236}">
                <a16:creationId xmlns:a16="http://schemas.microsoft.com/office/drawing/2014/main" id="{B19ED55D-A318-4F15-A5EA-8BDB50FC71A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2671" b="13965"/>
          <a:stretch>
            <a:fillRect/>
          </a:stretch>
        </p:blipFill>
        <p:spPr>
          <a:xfrm>
            <a:off x="5029200" y="2999232"/>
            <a:ext cx="1545881" cy="15993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4" name="Text 1"/>
          <p:cNvSpPr/>
          <p:nvPr/>
        </p:nvSpPr>
        <p:spPr>
          <a:xfrm>
            <a:off x="1097280" y="292608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Direct Delivery Fails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199" y="731520"/>
            <a:ext cx="8305137" cy="8094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6" name="Text 3"/>
          <p:cNvSpPr/>
          <p:nvPr/>
        </p:nvSpPr>
        <p:spPr>
          <a:xfrm>
            <a:off x="557784" y="832104"/>
            <a:ext cx="812901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customer fills even 1/5 of a truck </a:t>
            </a:r>
            <a:r>
              <a:rPr lang="en-US" sz="1000" dirty="0">
                <a:solidFill>
                  <a:srgbClr val="E87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FTL wastes 83% of capacity. </a:t>
            </a:r>
            <a:r>
              <a:rPr lang="en-US" sz="1000" dirty="0">
                <a:solidFill>
                  <a:srgbClr val="3AA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DCs aggregate volume → $0.02/bag FTL vs. $0.15/bag LTL.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CT + MA </a:t>
            </a:r>
            <a:r>
              <a:rPr lang="en-US" sz="10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vDCs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$1.67M/yr total cost; ME LTL because of narrow delivery time frames over LT low cost.</a:t>
            </a:r>
          </a:p>
          <a:p>
            <a:pPr>
              <a:lnSpc>
                <a:spcPct val="125000"/>
              </a:lnSpc>
            </a:pPr>
            <a:r>
              <a:rPr lang="en-US" sz="1000" dirty="0">
                <a:solidFill>
                  <a:schemeClr val="accent4"/>
                </a:solidFill>
              </a:rPr>
              <a:t>Leased truck (multi-stop) cheaper than LTL but requires </a:t>
            </a:r>
            <a:r>
              <a:rPr lang="en-US" sz="1000" dirty="0" err="1">
                <a:solidFill>
                  <a:schemeClr val="accent4"/>
                </a:solidFill>
              </a:rPr>
              <a:t>CanDi</a:t>
            </a:r>
            <a:r>
              <a:rPr lang="en-US" sz="1000" dirty="0">
                <a:solidFill>
                  <a:schemeClr val="accent4"/>
                </a:solidFill>
              </a:rPr>
              <a:t> to manage strict customer delivery windows. Operationally not feasible for a small company.</a:t>
            </a:r>
          </a:p>
        </p:txBody>
      </p:sp>
      <p:sp>
        <p:nvSpPr>
          <p:cNvPr id="7" name="Shape 4"/>
          <p:cNvSpPr/>
          <p:nvPr/>
        </p:nvSpPr>
        <p:spPr>
          <a:xfrm>
            <a:off x="457200" y="1554480"/>
            <a:ext cx="822960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9" name="Text 5"/>
          <p:cNvSpPr/>
          <p:nvPr/>
        </p:nvSpPr>
        <p:spPr>
          <a:xfrm>
            <a:off x="457200" y="4630901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weekly cost by mode and state. Right: cost per bag vs. the $0.50 margin. Via Regional DC (green) is cheapest across all states.</a:t>
            </a:r>
            <a:endParaRPr lang="en-US" sz="900" dirty="0"/>
          </a:p>
        </p:txBody>
      </p:sp>
      <p:pic>
        <p:nvPicPr>
          <p:cNvPr id="11" name="Image 1" descr="/sessions/happy-festive-archimedes/charts/chart_02_cell23.png">
            <a:extLst>
              <a:ext uri="{FF2B5EF4-FFF2-40B4-BE49-F238E27FC236}">
                <a16:creationId xmlns:a16="http://schemas.microsoft.com/office/drawing/2014/main" id="{3DA4EA93-E597-7868-3D86-BC379F9CE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173"/>
            <a:ext cx="8229600" cy="3155295"/>
          </a:xfrm>
          <a:prstGeom prst="rect">
            <a:avLst/>
          </a:prstGeom>
        </p:spPr>
      </p:pic>
      <p:pic>
        <p:nvPicPr>
          <p:cNvPr id="12" name="Image 0" descr="preencoded.png">
            <a:extLst>
              <a:ext uri="{FF2B5EF4-FFF2-40B4-BE49-F238E27FC236}">
                <a16:creationId xmlns:a16="http://schemas.microsoft.com/office/drawing/2014/main" id="{17D5AD37-FEF7-8EBF-CDE9-A9551A1639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4" name="Text 1"/>
          <p:cNvSpPr/>
          <p:nvPr/>
        </p:nvSpPr>
        <p:spPr>
          <a:xfrm>
            <a:off x="1097280" y="292608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8 Warehouse Configurations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3977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7" name="Text 3"/>
          <p:cNvSpPr/>
          <p:nvPr/>
        </p:nvSpPr>
        <p:spPr>
          <a:xfrm>
            <a:off x="457200" y="4201500"/>
            <a:ext cx="8229600" cy="4579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</a:t>
            </a:r>
            <a:r>
              <a:rPr lang="en-US" sz="900" i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+ MA is the clear winner at $1.67M/yr. </a:t>
            </a:r>
          </a:p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ME (+$227K) makes All 3 DCs more expensive. Without any DCs</a:t>
            </a:r>
            <a:r>
              <a:rPr lang="en-US" sz="900" i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ME LTL direct costs $2.69M.</a:t>
            </a:r>
            <a:endParaRPr lang="en-US" sz="900" dirty="0">
              <a:solidFill>
                <a:srgbClr val="00B050"/>
              </a:solidFill>
            </a:endParaRPr>
          </a:p>
        </p:txBody>
      </p:sp>
      <p:pic>
        <p:nvPicPr>
          <p:cNvPr id="8" name="Image 1" descr="/sessions/happy-festive-archimedes/charts/chart_03_cell27.png">
            <a:extLst>
              <a:ext uri="{FF2B5EF4-FFF2-40B4-BE49-F238E27FC236}">
                <a16:creationId xmlns:a16="http://schemas.microsoft.com/office/drawing/2014/main" id="{34B53B4C-53CB-D244-2B73-520B24EA9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08877"/>
            <a:ext cx="8224092" cy="3163824"/>
          </a:xfrm>
          <a:prstGeom prst="rect">
            <a:avLst/>
          </a:prstGeom>
        </p:spPr>
      </p:pic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D2FE83B2-C08E-BE80-9016-AEBBBC57E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4" name="Text 1"/>
          <p:cNvSpPr/>
          <p:nvPr/>
        </p:nvSpPr>
        <p:spPr>
          <a:xfrm>
            <a:off x="1014984" y="24910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Does the Money Go?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3977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7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full cost breakdown for 4 key scenarios. Right: incremental impact of each DC — MA saves $870K, CT adds $145K more, but ME costs $227K extra.</a:t>
            </a:r>
            <a:endParaRPr lang="en-US" sz="900" dirty="0"/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23F43FC6-ECF8-852D-1B6B-D469C7B16A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557784" y="391677"/>
            <a:ext cx="256032" cy="256032"/>
          </a:xfrm>
          <a:prstGeom prst="rect">
            <a:avLst/>
          </a:prstGeom>
          <a:noFill/>
        </p:spPr>
      </p:pic>
      <p:pic>
        <p:nvPicPr>
          <p:cNvPr id="9" name="Image 1" descr="/sessions/happy-festive-archimedes/charts/chart_06_cell43.png">
            <a:extLst>
              <a:ext uri="{FF2B5EF4-FFF2-40B4-BE49-F238E27FC236}">
                <a16:creationId xmlns:a16="http://schemas.microsoft.com/office/drawing/2014/main" id="{3035DF99-1B5A-7F6C-809A-BE3934E461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55404"/>
            <a:ext cx="8229600" cy="36165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ES_tradnl"/>
          </a:p>
        </p:txBody>
      </p:sp>
      <p:sp>
        <p:nvSpPr>
          <p:cNvPr id="4" name="Text 1"/>
          <p:cNvSpPr/>
          <p:nvPr/>
        </p:nvSpPr>
        <p:spPr>
          <a:xfrm>
            <a:off x="1097280" y="292608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Inventory: Lean &amp; Responsive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841248"/>
            <a:ext cx="1920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6" name="Text 3"/>
          <p:cNvSpPr/>
          <p:nvPr/>
        </p:nvSpPr>
        <p:spPr>
          <a:xfrm>
            <a:off x="457200" y="8686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45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 pallets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120700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Stock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1785451"/>
            <a:ext cx="1920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9" name="Text 6"/>
          <p:cNvSpPr/>
          <p:nvPr/>
        </p:nvSpPr>
        <p:spPr>
          <a:xfrm>
            <a:off x="457200" y="1812883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45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60-93×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57200" y="2151211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Inv. Turns/yr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747772"/>
            <a:ext cx="1920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 dirty="0"/>
          </a:p>
        </p:txBody>
      </p:sp>
      <p:sp>
        <p:nvSpPr>
          <p:cNvPr id="12" name="Text 9"/>
          <p:cNvSpPr/>
          <p:nvPr/>
        </p:nvSpPr>
        <p:spPr>
          <a:xfrm>
            <a:off x="457200" y="27752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45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$27K/yr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57200" y="3113532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3694176"/>
            <a:ext cx="1920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15" name="Text 12"/>
          <p:cNvSpPr/>
          <p:nvPr/>
        </p:nvSpPr>
        <p:spPr>
          <a:xfrm>
            <a:off x="457200" y="37216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45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7200" y="4059936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60132" y="841248"/>
            <a:ext cx="5926668" cy="3694679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_tradnl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C570440C-0736-156E-36E9-0E360112E01D}"/>
              </a:ext>
            </a:extLst>
          </p:cNvPr>
          <p:cNvSpPr/>
          <p:nvPr/>
        </p:nvSpPr>
        <p:spPr>
          <a:xfrm>
            <a:off x="75538" y="4537821"/>
            <a:ext cx="8643068" cy="499010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75538" y="4601828"/>
            <a:ext cx="8229600" cy="441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i="1" dirty="0">
                <a:solidFill>
                  <a:schemeClr val="accent1"/>
                </a:solidFill>
                <a:latin typeface="Calibri" pitchFamily="34" charset="0"/>
                <a:cs typeface="Calibri" pitchFamily="34" charset="-120"/>
              </a:rPr>
              <a:t>Key assumptions: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i="1" dirty="0">
                <a:solidFill>
                  <a:schemeClr val="accent1"/>
                </a:solidFill>
                <a:latin typeface="Calibri" pitchFamily="34" charset="0"/>
                <a:cs typeface="Calibri" pitchFamily="34" charset="-120"/>
              </a:rPr>
              <a:t>25% annual holding cost rate; independent customer demands across region.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i="1" dirty="0">
                <a:solidFill>
                  <a:schemeClr val="accent1"/>
                </a:solidFill>
                <a:latin typeface="Calibri" pitchFamily="34" charset="0"/>
                <a:cs typeface="Calibri" pitchFamily="34" charset="-120"/>
              </a:rPr>
              <a:t>Demand pooling at DCs reduces CV → proportionally less safety stock. Periodic Review (R,S) with weekly cycle aligned to customer ordering</a:t>
            </a:r>
            <a:r>
              <a:rPr lang="en-US" sz="900" i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900" dirty="0"/>
          </a:p>
        </p:txBody>
      </p:sp>
      <p:pic>
        <p:nvPicPr>
          <p:cNvPr id="21" name="Image 0" descr="preencoded.png">
            <a:extLst>
              <a:ext uri="{FF2B5EF4-FFF2-40B4-BE49-F238E27FC236}">
                <a16:creationId xmlns:a16="http://schemas.microsoft.com/office/drawing/2014/main" id="{4E68FCBE-2DB3-FC92-3CAE-3BAD9BB90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pic>
        <p:nvPicPr>
          <p:cNvPr id="23" name="Image 1" descr="/sessions/happy-festive-archimedes/charts/chart_05_cell39.png">
            <a:extLst>
              <a:ext uri="{FF2B5EF4-FFF2-40B4-BE49-F238E27FC236}">
                <a16:creationId xmlns:a16="http://schemas.microsoft.com/office/drawing/2014/main" id="{5786A057-9215-D5C9-5C3D-A88C199F96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747" y="848216"/>
            <a:ext cx="4920639" cy="3685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4171</TotalTime>
  <Words>681</Words>
  <Application>Microsoft Macintosh PowerPoint</Application>
  <PresentationFormat>On-screen Show (16:9)</PresentationFormat>
  <Paragraphs>60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Designing the Supply Chain for CanDi</dc:title>
  <dc:subject>PptxGenJS Presentation</dc:subject>
  <dc:creator>Supply Chain Analytics Team</dc:creator>
  <cp:lastModifiedBy>Vargas, Rolando</cp:lastModifiedBy>
  <cp:revision>6</cp:revision>
  <dcterms:created xsi:type="dcterms:W3CDTF">2026-02-19T19:12:25Z</dcterms:created>
  <dcterms:modified xsi:type="dcterms:W3CDTF">2026-02-22T19:35:09Z</dcterms:modified>
</cp:coreProperties>
</file>